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65" r:id="rId4"/>
    <p:sldId id="262" r:id="rId5"/>
    <p:sldId id="263" r:id="rId6"/>
    <p:sldId id="264" r:id="rId7"/>
  </p:sldIdLst>
  <p:sldSz cx="14630400" cy="8229600"/>
  <p:notesSz cx="8229600" cy="146304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859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5099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4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134406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3275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910742"/>
            <a:ext cx="12070080" cy="4279392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96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5343754"/>
            <a:ext cx="12070080" cy="13716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41590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16735" y="2214881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61504" y="2214882"/>
            <a:ext cx="5925312" cy="482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81598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16736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61504" y="2215263"/>
            <a:ext cx="5925312" cy="883538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400" b="0" cap="all" baseline="0">
                <a:solidFill>
                  <a:schemeClr val="tx2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61504" y="3098801"/>
            <a:ext cx="5925312" cy="4053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347934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305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70609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0" y="0"/>
            <a:ext cx="4860949" cy="8229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848085" y="0"/>
            <a:ext cx="76810" cy="8229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713231"/>
            <a:ext cx="3840480" cy="2743200"/>
          </a:xfrm>
        </p:spPr>
        <p:txBody>
          <a:bodyPr anchor="b">
            <a:norm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720" y="877824"/>
            <a:ext cx="7790688" cy="6309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8640" y="3511296"/>
            <a:ext cx="3840480" cy="405494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8614" y="7751743"/>
            <a:ext cx="3142212" cy="438150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760720" y="7751743"/>
            <a:ext cx="5577840" cy="43815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41393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5943600"/>
            <a:ext cx="1462659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9" y="5898091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6736" y="6089904"/>
            <a:ext cx="12135917" cy="987552"/>
          </a:xfrm>
        </p:spPr>
        <p:txBody>
          <a:bodyPr lIns="91440" tIns="0" rIns="91440" bIns="0" anchor="b">
            <a:noAutofit/>
          </a:bodyPr>
          <a:lstStyle>
            <a:lvl1pPr>
              <a:defRPr sz="432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" y="0"/>
            <a:ext cx="14630382" cy="5898091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840">
                <a:solidFill>
                  <a:schemeClr val="bg1"/>
                </a:solidFill>
              </a:defRPr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16736" y="7088428"/>
            <a:ext cx="12135917" cy="71323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720"/>
              </a:spcAft>
              <a:buNone/>
              <a:defRPr sz="1800">
                <a:solidFill>
                  <a:srgbClr val="FFFFFF"/>
                </a:solidFill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96174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31090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811" y="7680960"/>
            <a:ext cx="1462659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9" y="7601179"/>
            <a:ext cx="14626590" cy="768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97734"/>
            <a:ext cx="3154680" cy="690890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97734"/>
            <a:ext cx="9281160" cy="6908906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902979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4855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21090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0969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2345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13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7601179"/>
            <a:ext cx="14630401" cy="79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6736" y="343924"/>
            <a:ext cx="12070080" cy="17409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6736" y="2214881"/>
            <a:ext cx="12070080" cy="4828032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16737" y="7751743"/>
            <a:ext cx="296672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10/3/2024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23422" y="7751743"/>
            <a:ext cx="5787365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880550" y="7751743"/>
            <a:ext cx="157443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432238" y="2085414"/>
            <a:ext cx="1196035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710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</p:sldLayoutIdLst>
  <p:hf sldNum="0" hdr="0" ftr="0" dt="0"/>
  <p:txStyles>
    <p:titleStyle>
      <a:lvl1pPr algn="l" defTabSz="1097280" rtl="0" eaLnBrk="1" latinLnBrk="0" hangingPunct="1">
        <a:lnSpc>
          <a:spcPct val="85000"/>
        </a:lnSpc>
        <a:spcBef>
          <a:spcPct val="0"/>
        </a:spcBef>
        <a:buNone/>
        <a:defRPr sz="5760" kern="1200" spc="-6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109728" indent="-109728" algn="l" defTabSz="1097280" rtl="0" eaLnBrk="1" latinLnBrk="0" hangingPunct="1">
        <a:lnSpc>
          <a:spcPct val="90000"/>
        </a:lnSpc>
        <a:spcBef>
          <a:spcPts val="1440"/>
        </a:spcBef>
        <a:spcAft>
          <a:spcPts val="24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60858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80314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99770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119226" indent="-219456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32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56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80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040000" indent="-274320" algn="l" defTabSz="1097280" rtl="0" eaLnBrk="1" latinLnBrk="0" hangingPunct="1">
        <a:lnSpc>
          <a:spcPct val="90000"/>
        </a:lnSpc>
        <a:spcBef>
          <a:spcPts val="240"/>
        </a:spcBef>
        <a:spcAft>
          <a:spcPts val="480"/>
        </a:spcAft>
        <a:buClr>
          <a:schemeClr val="accent1"/>
        </a:buClr>
        <a:buFont typeface="Calibri" pitchFamily="34" charset="0"/>
        <a:buChar char="◦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9559" y="85790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7700"/>
              </a:lnSpc>
              <a:buNone/>
            </a:pPr>
            <a:r>
              <a:rPr lang="en-US" sz="61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Feedback Analysis using GenAI Agent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719559" y="308582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Feedback Analysis using GenAI Agent is a powerful system that leverages a custom-built generative AI algorithm to analyze and summarize customer feedback or reviews. It provides businesses with deeper insights to improve products and services.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793790" y="593490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518118-679F-D95F-FA7B-C6FFF2FB7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843" y="1196395"/>
            <a:ext cx="13421360" cy="58368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A0A655E-B5C2-F6F7-D10C-34ED7D931186}"/>
              </a:ext>
            </a:extLst>
          </p:cNvPr>
          <p:cNvSpPr txBox="1"/>
          <p:nvPr/>
        </p:nvSpPr>
        <p:spPr>
          <a:xfrm>
            <a:off x="629876" y="911508"/>
            <a:ext cx="13271157" cy="600164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4800" dirty="0"/>
              <a:t> </a:t>
            </a:r>
            <a:r>
              <a:rPr lang="en-US" sz="48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Key features to be implemented :</a:t>
            </a:r>
          </a:p>
          <a:p>
            <a:endParaRPr lang="en-US" sz="48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4800" dirty="0"/>
              <a:t> </a:t>
            </a:r>
            <a:r>
              <a:rPr lang="en-US" sz="4800" dirty="0">
                <a:solidFill>
                  <a:srgbClr val="002060"/>
                </a:solidFill>
                <a:latin typeface="+mj-lt"/>
              </a:rPr>
              <a:t>1. Text preprocessing and tokenization .</a:t>
            </a:r>
          </a:p>
          <a:p>
            <a:r>
              <a:rPr lang="en-US" sz="4800" dirty="0">
                <a:solidFill>
                  <a:srgbClr val="002060"/>
                </a:solidFill>
                <a:latin typeface="+mj-lt"/>
              </a:rPr>
              <a:t> 2. Sentiment analysis .</a:t>
            </a:r>
          </a:p>
          <a:p>
            <a:r>
              <a:rPr lang="en-US" sz="4800" dirty="0">
                <a:solidFill>
                  <a:srgbClr val="002060"/>
                </a:solidFill>
                <a:latin typeface="+mj-lt"/>
              </a:rPr>
              <a:t> 3. Key phrase extraction .</a:t>
            </a:r>
          </a:p>
          <a:p>
            <a:r>
              <a:rPr lang="en-US" sz="4800" dirty="0">
                <a:solidFill>
                  <a:srgbClr val="002060"/>
                </a:solidFill>
                <a:latin typeface="+mj-lt"/>
              </a:rPr>
              <a:t> 4. Summary generation using a custom    </a:t>
            </a:r>
          </a:p>
          <a:p>
            <a:r>
              <a:rPr lang="en-US" sz="4800" dirty="0">
                <a:solidFill>
                  <a:srgbClr val="002060"/>
                </a:solidFill>
                <a:latin typeface="+mj-lt"/>
              </a:rPr>
              <a:t> language model .</a:t>
            </a:r>
          </a:p>
          <a:p>
            <a:r>
              <a:rPr lang="en-US" sz="4800" dirty="0">
                <a:solidFill>
                  <a:srgbClr val="002060"/>
                </a:solidFill>
                <a:latin typeface="+mj-lt"/>
              </a:rPr>
              <a:t> 5. User interface for input and display of  results .</a:t>
            </a:r>
            <a:r>
              <a:rPr lang="en-US" sz="4800" dirty="0">
                <a:solidFill>
                  <a:srgbClr val="002060"/>
                </a:solidFill>
              </a:rPr>
              <a:t>      </a:t>
            </a:r>
          </a:p>
        </p:txBody>
      </p:sp>
    </p:spTree>
    <p:extLst>
      <p:ext uri="{BB962C8B-B14F-4D97-AF65-F5344CB8AC3E}">
        <p14:creationId xmlns:p14="http://schemas.microsoft.com/office/powerpoint/2010/main" val="3575128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964" y="469985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Business Case: Improved Customer Understanding, Increased Efficiency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138964" y="31674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Need for Automation</a:t>
            </a: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Problem of Manual Feedback Analysis</a:t>
            </a: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0070C0"/>
                </a:solidFill>
              </a:rPr>
              <a:t>Improved Decision-Making</a:t>
            </a: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  <a:p>
            <a:pPr marL="571500" indent="-5715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3600" dirty="0">
              <a:solidFill>
                <a:srgbClr val="0070C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15458" y="3650487"/>
            <a:ext cx="6603913" cy="885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>
              <a:solidFill>
                <a:srgbClr val="0070C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49597" y="4347210"/>
            <a:ext cx="296632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endParaRPr lang="en-US" sz="2200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3150"/>
            <a:ext cx="5486400" cy="823198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45077" y="291109"/>
            <a:ext cx="7839075" cy="17477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4550"/>
              </a:lnSpc>
              <a:buNone/>
            </a:pPr>
            <a:r>
              <a:rPr lang="en-US" sz="365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Typical Users: Customer Service, Product Managers, Market Research</a:t>
            </a:r>
            <a:endParaRPr lang="en-US" sz="36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8862" y="2539960"/>
            <a:ext cx="466011" cy="46601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38862" y="3192304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Customer Service Team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6138862" y="3595330"/>
            <a:ext cx="783907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Respond to customer inquiries and issues more effectively.</a:t>
            </a:r>
            <a:endParaRPr lang="en-US" sz="14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862" y="4452818"/>
            <a:ext cx="466011" cy="46601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38862" y="5105162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Product Managers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6138862" y="5508188"/>
            <a:ext cx="783907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product improvement opportunities and roadmap priorities.</a:t>
            </a:r>
            <a:endParaRPr lang="en-US" sz="14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38861" y="6179224"/>
            <a:ext cx="466011" cy="46601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38861" y="6855141"/>
            <a:ext cx="2330410" cy="291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Marketing and Research analytics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6138862" y="7204471"/>
            <a:ext cx="7839075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Gain deeper insights into customer preferences and market trends.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99465" y="192941"/>
            <a:ext cx="7717869" cy="190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000"/>
              </a:lnSpc>
              <a:buNone/>
            </a:pPr>
            <a:r>
              <a:rPr lang="en-US" sz="4000" dirty="0">
                <a:solidFill>
                  <a:srgbClr val="3257B8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How it Helps Users: Faster Feedback Analysis, Data-Driven Decisions</a:t>
            </a:r>
            <a:endParaRPr lang="en-US" sz="40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462" y="2649631"/>
            <a:ext cx="1018699" cy="16298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23678" y="2981444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Accelerated Insights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7523678" y="3421856"/>
            <a:ext cx="6393656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/>
              <a:t>Delivers actionable summaries and sentiments, making it easier to understand customer needs.</a:t>
            </a: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461" y="4236779"/>
            <a:ext cx="1018699" cy="162984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3678" y="4611291"/>
            <a:ext cx="287190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Saves Time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7523678" y="5051703"/>
            <a:ext cx="6393656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00" dirty="0"/>
              <a:t>Automates manual processes, reducing the time spent analyzing feedback.</a:t>
            </a: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9464" y="5866625"/>
            <a:ext cx="1018699" cy="162984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523678" y="6241137"/>
            <a:ext cx="2546747" cy="318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15213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Enhances Decision-Making</a:t>
            </a:r>
          </a:p>
          <a:p>
            <a:pPr marL="0" indent="0" algn="l">
              <a:lnSpc>
                <a:spcPts val="2500"/>
              </a:lnSpc>
              <a:buNone/>
            </a:pP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7523678" y="6681549"/>
            <a:ext cx="6393656" cy="651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15213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Leverage customer data to make informed, data-driven business decisions.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179</TotalTime>
  <Words>218</Words>
  <Application>Microsoft Office PowerPoint</Application>
  <PresentationFormat>Custom</PresentationFormat>
  <Paragraphs>39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Roboto</vt:lpstr>
      <vt:lpstr>Calibri Light</vt:lpstr>
      <vt:lpstr>Roboto Slab</vt:lpstr>
      <vt:lpstr>Arial</vt:lpstr>
      <vt:lpstr>Calibri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RAHUL VALAVOJU</cp:lastModifiedBy>
  <cp:revision>4</cp:revision>
  <dcterms:created xsi:type="dcterms:W3CDTF">2024-10-03T09:07:51Z</dcterms:created>
  <dcterms:modified xsi:type="dcterms:W3CDTF">2024-10-03T16:02:03Z</dcterms:modified>
</cp:coreProperties>
</file>